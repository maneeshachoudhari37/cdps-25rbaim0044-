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48D4415-C611-4A39-8540-3C9F19079B19}" type="datetimeFigureOut">
              <a:rPr lang="en-IN" smtClean="0"/>
              <a:t>03-01-2026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3306307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8D4415-C611-4A39-8540-3C9F19079B19}"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1602491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8D4415-C611-4A39-8540-3C9F19079B19}"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659219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48D4415-C611-4A39-8540-3C9F19079B19}"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4056072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48D4415-C611-4A39-8540-3C9F19079B19}" type="datetimeFigureOut">
              <a:rPr lang="en-IN" smtClean="0"/>
              <a:t>03-01-2026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3975628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48D4415-C611-4A39-8540-3C9F19079B19}"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1178609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8D4415-C611-4A39-8540-3C9F19079B19}" type="datetimeFigureOut">
              <a:rPr lang="en-IN" smtClean="0"/>
              <a:t>03-01-2026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37334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8D4415-C611-4A39-8540-3C9F19079B19}"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4138863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8D4415-C611-4A39-8540-3C9F19079B19}"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962971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8D4415-C611-4A39-8540-3C9F19079B19}"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3585217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8D4415-C611-4A39-8540-3C9F19079B19}"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2946856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8D4415-C611-4A39-8540-3C9F19079B19}"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15425687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8D4415-C611-4A39-8540-3C9F19079B19}"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3743821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8D4415-C611-4A39-8540-3C9F19079B19}"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27569652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8D4415-C611-4A39-8540-3C9F19079B19}"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30451006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8D4415-C611-4A39-8540-3C9F19079B19}"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23291311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8D4415-C611-4A39-8540-3C9F19079B19}"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5D8E23-29C0-4F5A-8640-54C6C03F5B85}" type="slidenum">
              <a:rPr lang="en-IN" smtClean="0"/>
              <a:t>‹#›</a:t>
            </a:fld>
            <a:endParaRPr lang="en-IN"/>
          </a:p>
        </p:txBody>
      </p:sp>
    </p:spTree>
    <p:extLst>
      <p:ext uri="{BB962C8B-B14F-4D97-AF65-F5344CB8AC3E}">
        <p14:creationId xmlns:p14="http://schemas.microsoft.com/office/powerpoint/2010/main" val="3749886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48D4415-C611-4A39-8540-3C9F19079B19}" type="datetimeFigureOut">
              <a:rPr lang="en-IN" smtClean="0"/>
              <a:t>03-01-2026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E5D8E23-29C0-4F5A-8640-54C6C03F5B85}" type="slidenum">
              <a:rPr lang="en-IN" smtClean="0"/>
              <a:t>‹#›</a:t>
            </a:fld>
            <a:endParaRPr lang="en-IN"/>
          </a:p>
        </p:txBody>
      </p:sp>
    </p:spTree>
    <p:extLst>
      <p:ext uri="{BB962C8B-B14F-4D97-AF65-F5344CB8AC3E}">
        <p14:creationId xmlns:p14="http://schemas.microsoft.com/office/powerpoint/2010/main" val="252140728"/>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ebshoganteaching.blog/author/debshogan/page/2/" TargetMode="External"/><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ixabay.com/ko/%ED%80%B4%EC%A6%88-%ED%8D%BC%EC%A6%90-%ED%8E%B8%EC%A7%80-%EB%AC%B8%EC%A0%9C-%EC%A7%88%EB%AC%B8-2432440/" TargetMode="External"/><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freepngimg.com/png/19306-thank-you-free-download-png" TargetMode="External"/><Relationship Id="rId2" Type="http://schemas.openxmlformats.org/officeDocument/2006/relationships/image" Target="../media/image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6CDB0-B355-FB34-CDCC-A9C13122A4CF}"/>
              </a:ext>
            </a:extLst>
          </p:cNvPr>
          <p:cNvSpPr>
            <a:spLocks noGrp="1"/>
          </p:cNvSpPr>
          <p:nvPr>
            <p:ph type="ctrTitle"/>
          </p:nvPr>
        </p:nvSpPr>
        <p:spPr>
          <a:xfrm>
            <a:off x="2417779" y="609601"/>
            <a:ext cx="6205111" cy="1396180"/>
          </a:xfrm>
        </p:spPr>
        <p:txBody>
          <a:bodyPr>
            <a:normAutofit/>
          </a:bodyPr>
          <a:lstStyle/>
          <a:p>
            <a:r>
              <a:rPr lang="en-US" sz="4000">
                <a:latin typeface="Bahnschrift SemiBold" panose="020B0502040204020203" pitchFamily="34" charset="0"/>
              </a:rPr>
              <a:t>SDLC ACTIVITY</a:t>
            </a:r>
            <a:br>
              <a:rPr lang="en-US" sz="4000">
                <a:latin typeface="Bahnschrift SemiBold" panose="020B0502040204020203" pitchFamily="34" charset="0"/>
              </a:rPr>
            </a:br>
            <a:r>
              <a:rPr lang="en-US" sz="4000">
                <a:latin typeface="Bahnschrift SemiBold" panose="020B0502040204020203" pitchFamily="34" charset="0"/>
              </a:rPr>
              <a:t>“ QUIZ GAME”</a:t>
            </a:r>
            <a:endParaRPr lang="en-IN" sz="4000">
              <a:latin typeface="Bahnschrift SemiBold" panose="020B0502040204020203" pitchFamily="34" charset="0"/>
            </a:endParaRPr>
          </a:p>
        </p:txBody>
      </p:sp>
      <p:sp>
        <p:nvSpPr>
          <p:cNvPr id="3" name="Subtitle 2">
            <a:extLst>
              <a:ext uri="{FF2B5EF4-FFF2-40B4-BE49-F238E27FC236}">
                <a16:creationId xmlns:a16="http://schemas.microsoft.com/office/drawing/2014/main" id="{906FED96-4E38-1B51-355D-062460D073B5}"/>
              </a:ext>
            </a:extLst>
          </p:cNvPr>
          <p:cNvSpPr>
            <a:spLocks noGrp="1"/>
          </p:cNvSpPr>
          <p:nvPr>
            <p:ph type="subTitle" idx="1"/>
          </p:nvPr>
        </p:nvSpPr>
        <p:spPr>
          <a:xfrm>
            <a:off x="2417780" y="2880852"/>
            <a:ext cx="8637072" cy="3136490"/>
          </a:xfrm>
        </p:spPr>
        <p:txBody>
          <a:bodyPr>
            <a:normAutofit/>
          </a:bodyPr>
          <a:lstStyle/>
          <a:p>
            <a:r>
              <a:rPr lang="en-US" sz="2800"/>
              <a:t>Presented by :</a:t>
            </a:r>
          </a:p>
          <a:p>
            <a:r>
              <a:rPr lang="en-US" sz="2800"/>
              <a:t>Ch . Maneesha (25rbaim0044)</a:t>
            </a:r>
          </a:p>
          <a:p>
            <a:r>
              <a:rPr lang="en-US" sz="2800"/>
              <a:t>G . Swetha ( 25rbaim0050)</a:t>
            </a:r>
          </a:p>
          <a:p>
            <a:r>
              <a:rPr lang="en-US" sz="2800"/>
              <a:t>K .  Tanmayi </a:t>
            </a:r>
            <a:r>
              <a:rPr lang="en-US" sz="2800" err="1"/>
              <a:t>sree</a:t>
            </a:r>
            <a:r>
              <a:rPr lang="en-US" sz="2800"/>
              <a:t> (25rbaim0049)</a:t>
            </a:r>
          </a:p>
          <a:p>
            <a:r>
              <a:rPr lang="en-US" sz="2800"/>
              <a:t>Uzma begum(25rbaim0019)</a:t>
            </a:r>
          </a:p>
        </p:txBody>
      </p:sp>
    </p:spTree>
    <p:extLst>
      <p:ext uri="{BB962C8B-B14F-4D97-AF65-F5344CB8AC3E}">
        <p14:creationId xmlns:p14="http://schemas.microsoft.com/office/powerpoint/2010/main" val="240671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F5317-9D9E-A200-D625-30FCDBCDEF88}"/>
              </a:ext>
            </a:extLst>
          </p:cNvPr>
          <p:cNvSpPr>
            <a:spLocks noGrp="1"/>
          </p:cNvSpPr>
          <p:nvPr>
            <p:ph type="title"/>
          </p:nvPr>
        </p:nvSpPr>
        <p:spPr>
          <a:xfrm>
            <a:off x="1449217" y="540775"/>
            <a:ext cx="9605635" cy="609600"/>
          </a:xfrm>
        </p:spPr>
        <p:txBody>
          <a:bodyPr>
            <a:normAutofit fontScale="90000"/>
          </a:bodyPr>
          <a:lstStyle/>
          <a:p>
            <a:r>
              <a:rPr lang="en-US"/>
              <a:t>Introduction </a:t>
            </a:r>
            <a:endParaRPr lang="en-IN"/>
          </a:p>
        </p:txBody>
      </p:sp>
      <p:sp>
        <p:nvSpPr>
          <p:cNvPr id="5" name="Rectangle 1">
            <a:extLst>
              <a:ext uri="{FF2B5EF4-FFF2-40B4-BE49-F238E27FC236}">
                <a16:creationId xmlns:a16="http://schemas.microsoft.com/office/drawing/2014/main" id="{9ADFFFD1-7DC6-5859-3629-49A8D73F442B}"/>
              </a:ext>
            </a:extLst>
          </p:cNvPr>
          <p:cNvSpPr>
            <a:spLocks noGrp="1" noChangeArrowheads="1"/>
          </p:cNvSpPr>
          <p:nvPr>
            <p:ph sz="half" idx="1"/>
          </p:nvPr>
        </p:nvSpPr>
        <p:spPr bwMode="auto">
          <a:xfrm>
            <a:off x="1484313" y="1824919"/>
            <a:ext cx="735488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Quiz Game is a simple software project designed to test user knowledge interactively.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It serves as an ideal example to demonstrate the phases of the Software Development Life Cycle (SDLC).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In the </a:t>
            </a:r>
            <a:r>
              <a:rPr kumimoji="0" lang="en-US" altLang="en-US" sz="1800" b="1" i="0" u="none" strike="noStrike" cap="none" normalizeH="0" baseline="0">
                <a:ln>
                  <a:noFill/>
                </a:ln>
                <a:solidFill>
                  <a:schemeClr val="tx1"/>
                </a:solidFill>
                <a:effectLst/>
                <a:latin typeface="Arial" panose="020B0604020202020204" pitchFamily="34" charset="0"/>
              </a:rPr>
              <a:t>Requirement Analysis</a:t>
            </a:r>
            <a:r>
              <a:rPr kumimoji="0" lang="en-US" altLang="en-US" sz="1800" b="0" i="0" u="none" strike="noStrike" cap="none" normalizeH="0" baseline="0">
                <a:ln>
                  <a:noFill/>
                </a:ln>
                <a:solidFill>
                  <a:schemeClr val="tx1"/>
                </a:solidFill>
                <a:effectLst/>
                <a:latin typeface="Arial" panose="020B0604020202020204" pitchFamily="34" charset="0"/>
              </a:rPr>
              <a:t> phase, rules, scoring, and question formats are defined.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a:t>
            </a:r>
            <a:r>
              <a:rPr kumimoji="0" lang="en-US" altLang="en-US" sz="1800" b="1" i="0" u="none" strike="noStrike" cap="none" normalizeH="0" baseline="0">
                <a:ln>
                  <a:noFill/>
                </a:ln>
                <a:solidFill>
                  <a:schemeClr val="tx1"/>
                </a:solidFill>
                <a:effectLst/>
                <a:latin typeface="Arial" panose="020B0604020202020204" pitchFamily="34" charset="0"/>
              </a:rPr>
              <a:t>Design</a:t>
            </a:r>
            <a:r>
              <a:rPr kumimoji="0" lang="en-US" altLang="en-US" sz="1800" b="0" i="0" u="none" strike="noStrike" cap="none" normalizeH="0" baseline="0">
                <a:ln>
                  <a:noFill/>
                </a:ln>
                <a:solidFill>
                  <a:schemeClr val="tx1"/>
                </a:solidFill>
                <a:effectLst/>
                <a:latin typeface="Arial" panose="020B0604020202020204" pitchFamily="34" charset="0"/>
              </a:rPr>
              <a:t> phase focuses on user interface layout and database structure for storing questions.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During </a:t>
            </a:r>
            <a:r>
              <a:rPr kumimoji="0" lang="en-US" altLang="en-US" sz="1800" b="1" i="0" u="none" strike="noStrike" cap="none" normalizeH="0" baseline="0">
                <a:ln>
                  <a:noFill/>
                </a:ln>
                <a:solidFill>
                  <a:schemeClr val="tx1"/>
                </a:solidFill>
                <a:effectLst/>
                <a:latin typeface="Arial" panose="020B0604020202020204" pitchFamily="34" charset="0"/>
              </a:rPr>
              <a:t>Implementation</a:t>
            </a:r>
            <a:r>
              <a:rPr kumimoji="0" lang="en-US" altLang="en-US" sz="1800" b="0" i="0" u="none" strike="noStrike" cap="none" normalizeH="0" baseline="0">
                <a:ln>
                  <a:noFill/>
                </a:ln>
                <a:solidFill>
                  <a:schemeClr val="tx1"/>
                </a:solidFill>
                <a:effectLst/>
                <a:latin typeface="Arial" panose="020B0604020202020204" pitchFamily="34" charset="0"/>
              </a:rPr>
              <a:t>, the game logic is coded to handle questions, answers, and scoring.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a:t>
            </a:r>
            <a:r>
              <a:rPr kumimoji="0" lang="en-US" altLang="en-US" sz="1800" b="1" i="0" u="none" strike="noStrike" cap="none" normalizeH="0" baseline="0">
                <a:ln>
                  <a:noFill/>
                </a:ln>
                <a:solidFill>
                  <a:schemeClr val="tx1"/>
                </a:solidFill>
                <a:effectLst/>
                <a:latin typeface="Arial" panose="020B0604020202020204" pitchFamily="34" charset="0"/>
              </a:rPr>
              <a:t>Testing</a:t>
            </a:r>
            <a:r>
              <a:rPr kumimoji="0" lang="en-US" altLang="en-US" sz="1800" b="0" i="0" u="none" strike="noStrike" cap="none" normalizeH="0" baseline="0">
                <a:ln>
                  <a:noFill/>
                </a:ln>
                <a:solidFill>
                  <a:schemeClr val="tx1"/>
                </a:solidFill>
                <a:effectLst/>
                <a:latin typeface="Arial" panose="020B0604020202020204" pitchFamily="34" charset="0"/>
              </a:rPr>
              <a:t> phase ensures accuracy, usability, and a smooth player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Finally, </a:t>
            </a:r>
            <a:r>
              <a:rPr kumimoji="0" lang="en-US" altLang="en-US" sz="1800" b="1" i="0" u="none" strike="noStrike" cap="none" normalizeH="0" baseline="0">
                <a:ln>
                  <a:noFill/>
                </a:ln>
                <a:solidFill>
                  <a:schemeClr val="tx1"/>
                </a:solidFill>
                <a:effectLst/>
                <a:latin typeface="Arial" panose="020B0604020202020204" pitchFamily="34" charset="0"/>
              </a:rPr>
              <a:t>Deployment and Maintenance</a:t>
            </a:r>
            <a:r>
              <a:rPr kumimoji="0" lang="en-US" altLang="en-US" sz="1800" b="0" i="0" u="none" strike="noStrike" cap="none" normalizeH="0" baseline="0">
                <a:ln>
                  <a:noFill/>
                </a:ln>
                <a:solidFill>
                  <a:schemeClr val="tx1"/>
                </a:solidFill>
                <a:effectLst/>
                <a:latin typeface="Arial" panose="020B0604020202020204" pitchFamily="34" charset="0"/>
              </a:rPr>
              <a:t> make the game available to users and allow updates with new content.</a:t>
            </a:r>
          </a:p>
        </p:txBody>
      </p:sp>
      <p:pic>
        <p:nvPicPr>
          <p:cNvPr id="12" name="Content Placeholder 11">
            <a:extLst>
              <a:ext uri="{FF2B5EF4-FFF2-40B4-BE49-F238E27FC236}">
                <a16:creationId xmlns:a16="http://schemas.microsoft.com/office/drawing/2014/main" id="{3FD8362E-E447-CDAC-64CA-6A58722FE75E}"/>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839200" y="4139381"/>
            <a:ext cx="3136900" cy="2330399"/>
          </a:xfrm>
        </p:spPr>
      </p:pic>
    </p:spTree>
    <p:extLst>
      <p:ext uri="{BB962C8B-B14F-4D97-AF65-F5344CB8AC3E}">
        <p14:creationId xmlns:p14="http://schemas.microsoft.com/office/powerpoint/2010/main" val="948405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C4846-A3FB-581C-7F9C-38E881751105}"/>
              </a:ext>
            </a:extLst>
          </p:cNvPr>
          <p:cNvSpPr>
            <a:spLocks noGrp="1"/>
          </p:cNvSpPr>
          <p:nvPr>
            <p:ph type="title"/>
          </p:nvPr>
        </p:nvSpPr>
        <p:spPr>
          <a:xfrm>
            <a:off x="1484311" y="452284"/>
            <a:ext cx="10018713" cy="943897"/>
          </a:xfrm>
        </p:spPr>
        <p:txBody>
          <a:bodyPr/>
          <a:lstStyle/>
          <a:p>
            <a:r>
              <a:rPr lang="en-US"/>
              <a:t>Problem statement </a:t>
            </a:r>
            <a:endParaRPr lang="en-IN"/>
          </a:p>
        </p:txBody>
      </p:sp>
      <p:sp>
        <p:nvSpPr>
          <p:cNvPr id="3" name="Content Placeholder 2">
            <a:extLst>
              <a:ext uri="{FF2B5EF4-FFF2-40B4-BE49-F238E27FC236}">
                <a16:creationId xmlns:a16="http://schemas.microsoft.com/office/drawing/2014/main" id="{E3A4797F-CD17-2BCC-C081-DD49901FAEBE}"/>
              </a:ext>
            </a:extLst>
          </p:cNvPr>
          <p:cNvSpPr>
            <a:spLocks noGrp="1"/>
          </p:cNvSpPr>
          <p:nvPr>
            <p:ph idx="1"/>
          </p:nvPr>
        </p:nvSpPr>
        <p:spPr>
          <a:xfrm>
            <a:off x="1484310" y="1818968"/>
            <a:ext cx="10245574" cy="4296697"/>
          </a:xfrm>
        </p:spPr>
        <p:txBody>
          <a:bodyPr>
            <a:normAutofit/>
          </a:bodyPr>
          <a:lstStyle/>
          <a:p>
            <a:r>
              <a:rPr lang="en-US"/>
              <a:t>Traditional quizzes often lack interactivity and fail to keep learners engaged. There is a need for a simple yet effective </a:t>
            </a:r>
            <a:r>
              <a:rPr lang="en-US" b="1"/>
              <a:t>Quiz Game</a:t>
            </a:r>
            <a:r>
              <a:rPr lang="en-US"/>
              <a:t> that makes learning fun. The game should allow users to answer questions across different topics. A scoring system must be included to track performance and motivate players. The interface should be clear, intuitive, and easy to navigate. Flexibility is required to add or update questions over time. Proper testing is essential to ensure accuracy and smooth functionality. This project demonstrates how SDLC phases can transform an idea into a working product.</a:t>
            </a:r>
            <a:endParaRPr lang="en-IN"/>
          </a:p>
        </p:txBody>
      </p:sp>
    </p:spTree>
    <p:extLst>
      <p:ext uri="{BB962C8B-B14F-4D97-AF65-F5344CB8AC3E}">
        <p14:creationId xmlns:p14="http://schemas.microsoft.com/office/powerpoint/2010/main" val="2363355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7B95E-3D3B-7ADB-E54C-167FDE481667}"/>
              </a:ext>
            </a:extLst>
          </p:cNvPr>
          <p:cNvSpPr>
            <a:spLocks noGrp="1"/>
          </p:cNvSpPr>
          <p:nvPr>
            <p:ph type="title"/>
          </p:nvPr>
        </p:nvSpPr>
        <p:spPr>
          <a:xfrm>
            <a:off x="1484311" y="403124"/>
            <a:ext cx="10018713" cy="865238"/>
          </a:xfrm>
        </p:spPr>
        <p:txBody>
          <a:bodyPr>
            <a:normAutofit/>
          </a:bodyPr>
          <a:lstStyle/>
          <a:p>
            <a:r>
              <a:rPr lang="en-US"/>
              <a:t>Objective </a:t>
            </a:r>
            <a:endParaRPr lang="en-IN"/>
          </a:p>
        </p:txBody>
      </p:sp>
      <p:sp>
        <p:nvSpPr>
          <p:cNvPr id="3" name="Content Placeholder 2">
            <a:extLst>
              <a:ext uri="{FF2B5EF4-FFF2-40B4-BE49-F238E27FC236}">
                <a16:creationId xmlns:a16="http://schemas.microsoft.com/office/drawing/2014/main" id="{A5BD1596-A12B-403E-60D9-BE3014C775D3}"/>
              </a:ext>
            </a:extLst>
          </p:cNvPr>
          <p:cNvSpPr>
            <a:spLocks noGrp="1"/>
          </p:cNvSpPr>
          <p:nvPr>
            <p:ph sz="half" idx="1"/>
          </p:nvPr>
        </p:nvSpPr>
        <p:spPr>
          <a:xfrm>
            <a:off x="1612310" y="1347019"/>
            <a:ext cx="7148231" cy="5107857"/>
          </a:xfrm>
        </p:spPr>
        <p:txBody>
          <a:bodyPr>
            <a:normAutofit/>
          </a:bodyPr>
          <a:lstStyle/>
          <a:p>
            <a:r>
              <a:rPr lang="en-US"/>
              <a:t>The objective of developing the Quiz Game is to design an interactive and educational application that demonstrates the practical use of the Software Development Life Cycle (SDLC). This project aims to provide users with a simple, engaging platform where they can answer questions, receive instant feedback, and track their scores to measure performance. By applying each SDLC phase—requirement analysis, design, implementation, testing, deployment, and maintenance—the game will ensure accuracy, reliability, and user‑friendliness. It also seeks to encourage learning through play, maintain flexibility for adding new questions, and highlight the importance of systematic development practices in transforming ideas into functional software solutions.</a:t>
            </a:r>
          </a:p>
          <a:p>
            <a:endParaRPr lang="en-IN"/>
          </a:p>
        </p:txBody>
      </p:sp>
      <p:pic>
        <p:nvPicPr>
          <p:cNvPr id="6" name="Content Placeholder 5">
            <a:extLst>
              <a:ext uri="{FF2B5EF4-FFF2-40B4-BE49-F238E27FC236}">
                <a16:creationId xmlns:a16="http://schemas.microsoft.com/office/drawing/2014/main" id="{9983578A-6E16-F1B2-DC97-4BCBB53FA48D}"/>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947175" y="3429000"/>
            <a:ext cx="2940025" cy="2940025"/>
          </a:xfrm>
        </p:spPr>
      </p:pic>
    </p:spTree>
    <p:extLst>
      <p:ext uri="{BB962C8B-B14F-4D97-AF65-F5344CB8AC3E}">
        <p14:creationId xmlns:p14="http://schemas.microsoft.com/office/powerpoint/2010/main" val="4243385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F2C48-4F51-5BF0-47F5-1283A5B1C79D}"/>
              </a:ext>
            </a:extLst>
          </p:cNvPr>
          <p:cNvSpPr>
            <a:spLocks noGrp="1"/>
          </p:cNvSpPr>
          <p:nvPr>
            <p:ph type="title"/>
          </p:nvPr>
        </p:nvSpPr>
        <p:spPr>
          <a:xfrm>
            <a:off x="1484311" y="294968"/>
            <a:ext cx="10018713" cy="934063"/>
          </a:xfrm>
        </p:spPr>
        <p:txBody>
          <a:bodyPr>
            <a:normAutofit fontScale="90000"/>
          </a:bodyPr>
          <a:lstStyle/>
          <a:p>
            <a:r>
              <a:rPr lang="en-US"/>
              <a:t>Activity -1</a:t>
            </a:r>
            <a:br>
              <a:rPr lang="en-US"/>
            </a:br>
            <a:r>
              <a:rPr lang="en-US"/>
              <a:t>requirement analysis</a:t>
            </a:r>
            <a:endParaRPr lang="en-IN"/>
          </a:p>
        </p:txBody>
      </p:sp>
      <p:sp>
        <p:nvSpPr>
          <p:cNvPr id="3" name="Content Placeholder 2">
            <a:extLst>
              <a:ext uri="{FF2B5EF4-FFF2-40B4-BE49-F238E27FC236}">
                <a16:creationId xmlns:a16="http://schemas.microsoft.com/office/drawing/2014/main" id="{8A8F732A-679F-D522-BBF1-D04E73CDC8B4}"/>
              </a:ext>
            </a:extLst>
          </p:cNvPr>
          <p:cNvSpPr>
            <a:spLocks noGrp="1"/>
          </p:cNvSpPr>
          <p:nvPr>
            <p:ph idx="1"/>
          </p:nvPr>
        </p:nvSpPr>
        <p:spPr>
          <a:xfrm>
            <a:off x="1366323" y="3429000"/>
            <a:ext cx="10018713" cy="1536289"/>
          </a:xfrm>
        </p:spPr>
        <p:txBody>
          <a:bodyPr>
            <a:normAutofit fontScale="25000" lnSpcReduction="20000"/>
          </a:bodyPr>
          <a:lstStyle/>
          <a:p>
            <a:r>
              <a:rPr lang="en-US" sz="8000" b="1"/>
              <a:t>Stakeholders :</a:t>
            </a:r>
          </a:p>
          <a:p>
            <a:r>
              <a:rPr lang="en-US" sz="8000" b="1"/>
              <a:t> Players</a:t>
            </a:r>
            <a:r>
              <a:rPr lang="en-US" sz="8000"/>
              <a:t> define usability and engagement needs.</a:t>
            </a:r>
          </a:p>
          <a:p>
            <a:r>
              <a:rPr lang="en-US" sz="8000" b="1"/>
              <a:t>Clients</a:t>
            </a:r>
            <a:r>
              <a:rPr lang="en-US" sz="8000"/>
              <a:t> set business goals (educational, entertainment, corporate training).</a:t>
            </a:r>
          </a:p>
          <a:p>
            <a:r>
              <a:rPr lang="en-US" sz="8000" b="1"/>
              <a:t>Designers &amp; Developers</a:t>
            </a:r>
            <a:r>
              <a:rPr lang="en-US" sz="8000"/>
              <a:t> translate requirements into technical features.</a:t>
            </a:r>
          </a:p>
          <a:p>
            <a:r>
              <a:rPr lang="en-US" sz="8000" b="1"/>
              <a:t>Content Experts</a:t>
            </a:r>
            <a:r>
              <a:rPr lang="en-US" sz="8000"/>
              <a:t> ensure quality and relevance of quiz material.</a:t>
            </a:r>
          </a:p>
          <a:p>
            <a:r>
              <a:rPr lang="en-US" sz="8000" b="1"/>
              <a:t>Testers</a:t>
            </a:r>
            <a:r>
              <a:rPr lang="en-US" sz="8000"/>
              <a:t> validate requirements against expected outcomes.</a:t>
            </a:r>
          </a:p>
          <a:p>
            <a:endParaRPr lang="en-US" sz="8000"/>
          </a:p>
          <a:p>
            <a:r>
              <a:rPr lang="en-US" sz="8000"/>
              <a:t>Sample interview questions:</a:t>
            </a:r>
          </a:p>
          <a:p>
            <a:endParaRPr lang="en-US" sz="8000"/>
          </a:p>
          <a:p>
            <a:endParaRPr lang="en-US" sz="8000"/>
          </a:p>
          <a:p>
            <a:endParaRPr lang="en-US" sz="8000"/>
          </a:p>
          <a:p>
            <a:endParaRPr lang="en-US" sz="8000"/>
          </a:p>
          <a:p>
            <a:endParaRPr lang="en-US" sz="8000"/>
          </a:p>
          <a:p>
            <a:endParaRPr lang="en-IN"/>
          </a:p>
        </p:txBody>
      </p:sp>
      <p:sp>
        <p:nvSpPr>
          <p:cNvPr id="5" name="Rectangle 2">
            <a:extLst>
              <a:ext uri="{FF2B5EF4-FFF2-40B4-BE49-F238E27FC236}">
                <a16:creationId xmlns:a16="http://schemas.microsoft.com/office/drawing/2014/main" id="{777C3191-01B5-2F7B-1EF6-F03AE347FBE3}"/>
              </a:ext>
            </a:extLst>
          </p:cNvPr>
          <p:cNvSpPr>
            <a:spLocks noChangeArrowheads="1"/>
          </p:cNvSpPr>
          <p:nvPr/>
        </p:nvSpPr>
        <p:spPr bwMode="auto">
          <a:xfrm rot="10800000" flipV="1">
            <a:off x="1573160" y="4645311"/>
            <a:ext cx="1044202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a:ln>
                  <a:noFill/>
                </a:ln>
                <a:solidFill>
                  <a:schemeClr val="tx1"/>
                </a:solidFill>
                <a:effectLst/>
                <a:latin typeface="Arial" panose="020B0604020202020204" pitchFamily="34" charset="0"/>
              </a:rPr>
              <a:t>What features or elements would make the quiz game engaging and enjoyable for players?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a:ln>
                  <a:noFill/>
                </a:ln>
                <a:solidFill>
                  <a:schemeClr val="tx1"/>
                </a:solidFill>
                <a:effectLst/>
                <a:latin typeface="Arial" panose="020B0604020202020204" pitchFamily="34" charset="0"/>
              </a:rPr>
              <a:t>What types of quiz questions and formats should be included (e.g., multiple choice, timed, true/false)?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a:ln>
                  <a:noFill/>
                </a:ln>
                <a:solidFill>
                  <a:schemeClr val="tx1"/>
                </a:solidFill>
                <a:effectLst/>
                <a:latin typeface="Arial" panose="020B0604020202020204" pitchFamily="34" charset="0"/>
              </a:rPr>
              <a:t>On which platforms should the quiz game be available, and what performance expectations do you have?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6004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5CF85-DF0F-5B90-AB3E-7E0E57C983BF}"/>
              </a:ext>
            </a:extLst>
          </p:cNvPr>
          <p:cNvSpPr>
            <a:spLocks noGrp="1"/>
          </p:cNvSpPr>
          <p:nvPr>
            <p:ph type="title"/>
          </p:nvPr>
        </p:nvSpPr>
        <p:spPr>
          <a:xfrm>
            <a:off x="1484311" y="530942"/>
            <a:ext cx="10018713" cy="535859"/>
          </a:xfrm>
        </p:spPr>
        <p:txBody>
          <a:bodyPr>
            <a:normAutofit fontScale="90000"/>
          </a:bodyPr>
          <a:lstStyle/>
          <a:p>
            <a:r>
              <a:rPr lang="en-IN"/>
              <a:t>Requirement </a:t>
            </a:r>
          </a:p>
        </p:txBody>
      </p:sp>
      <p:sp>
        <p:nvSpPr>
          <p:cNvPr id="3" name="Content Placeholder 2">
            <a:extLst>
              <a:ext uri="{FF2B5EF4-FFF2-40B4-BE49-F238E27FC236}">
                <a16:creationId xmlns:a16="http://schemas.microsoft.com/office/drawing/2014/main" id="{F124EE2B-F0FF-815C-082E-291DE3D74347}"/>
              </a:ext>
            </a:extLst>
          </p:cNvPr>
          <p:cNvSpPr>
            <a:spLocks noGrp="1"/>
          </p:cNvSpPr>
          <p:nvPr>
            <p:ph sz="half" idx="1"/>
          </p:nvPr>
        </p:nvSpPr>
        <p:spPr>
          <a:xfrm>
            <a:off x="1189703" y="-1081548"/>
            <a:ext cx="5565058" cy="7197212"/>
          </a:xfrm>
        </p:spPr>
        <p:txBody>
          <a:bodyPr>
            <a:normAutofit/>
          </a:bodyPr>
          <a:lstStyle/>
          <a:p>
            <a:r>
              <a:rPr lang="en-IN" sz="2800"/>
              <a:t>FUNCTIONAL :</a:t>
            </a:r>
          </a:p>
          <a:p>
            <a:endParaRPr lang="en-IN" sz="2800"/>
          </a:p>
          <a:p>
            <a:endParaRPr lang="en-IN" sz="2800"/>
          </a:p>
        </p:txBody>
      </p:sp>
      <p:sp>
        <p:nvSpPr>
          <p:cNvPr id="4" name="Content Placeholder 3">
            <a:extLst>
              <a:ext uri="{FF2B5EF4-FFF2-40B4-BE49-F238E27FC236}">
                <a16:creationId xmlns:a16="http://schemas.microsoft.com/office/drawing/2014/main" id="{EFE2164D-7E1A-102D-4CCA-D2959A529A06}"/>
              </a:ext>
            </a:extLst>
          </p:cNvPr>
          <p:cNvSpPr>
            <a:spLocks noGrp="1"/>
          </p:cNvSpPr>
          <p:nvPr>
            <p:ph sz="half" idx="2"/>
          </p:nvPr>
        </p:nvSpPr>
        <p:spPr>
          <a:xfrm>
            <a:off x="6607967" y="1806676"/>
            <a:ext cx="4895056" cy="1870589"/>
          </a:xfrm>
        </p:spPr>
        <p:txBody>
          <a:bodyPr>
            <a:normAutofit/>
          </a:bodyPr>
          <a:lstStyle/>
          <a:p>
            <a:r>
              <a:rPr lang="en-IN" sz="2800"/>
              <a:t>NON- FUNCTIONAL</a:t>
            </a:r>
          </a:p>
          <a:p>
            <a:r>
              <a:rPr lang="en-IN" sz="2800"/>
              <a:t> </a:t>
            </a:r>
          </a:p>
        </p:txBody>
      </p:sp>
      <p:sp>
        <p:nvSpPr>
          <p:cNvPr id="5" name="Rectangle 1">
            <a:extLst>
              <a:ext uri="{FF2B5EF4-FFF2-40B4-BE49-F238E27FC236}">
                <a16:creationId xmlns:a16="http://schemas.microsoft.com/office/drawing/2014/main" id="{8C646DB9-8BA0-E47A-5EAD-1A8A3157AA9D}"/>
              </a:ext>
            </a:extLst>
          </p:cNvPr>
          <p:cNvSpPr>
            <a:spLocks noChangeArrowheads="1"/>
          </p:cNvSpPr>
          <p:nvPr/>
        </p:nvSpPr>
        <p:spPr bwMode="auto">
          <a:xfrm>
            <a:off x="1032388" y="2160100"/>
            <a:ext cx="538807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Question Management</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system must allow adding, editing, and deleting quiz</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 questions of different formats (MCQ, True/False, timed).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Scoring &amp; Feedback</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game must calculate scores automatically and display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 immediate feedback (correct/incorrect) after each question.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User Accounts &amp; Progress Tracking</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Players must be able to create accounts,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log in, and track their quiz history and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36C9AF5B-DE35-5F08-7C49-2CDB31BB5EFB}"/>
              </a:ext>
            </a:extLst>
          </p:cNvPr>
          <p:cNvSpPr>
            <a:spLocks noChangeArrowheads="1"/>
          </p:cNvSpPr>
          <p:nvPr/>
        </p:nvSpPr>
        <p:spPr bwMode="auto">
          <a:xfrm rot="10800000" flipV="1">
            <a:off x="6912074" y="2679291"/>
            <a:ext cx="5260950" cy="3772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Performance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quiz game must load questions and process answers within 2 seconds to ensure smooth gameplay.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Compatibility</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game must run seamlessly across multiple platforms (web, mobile, desktop) with consistent user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Security &amp; Privacy</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User data (scores, login credentials) must be stored securely and comply with data protection standards.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4421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BDE5-161E-E97A-1BA1-61EC9F7A39A6}"/>
              </a:ext>
            </a:extLst>
          </p:cNvPr>
          <p:cNvSpPr>
            <a:spLocks noGrp="1"/>
          </p:cNvSpPr>
          <p:nvPr>
            <p:ph type="title"/>
          </p:nvPr>
        </p:nvSpPr>
        <p:spPr>
          <a:xfrm>
            <a:off x="1484311" y="285136"/>
            <a:ext cx="10018713" cy="781664"/>
          </a:xfrm>
        </p:spPr>
        <p:txBody>
          <a:bodyPr/>
          <a:lstStyle/>
          <a:p>
            <a:r>
              <a:rPr lang="en-IN"/>
              <a:t>ACTIVITY -2 ( SYSTEM DESIGN)</a:t>
            </a:r>
          </a:p>
        </p:txBody>
      </p:sp>
      <p:sp>
        <p:nvSpPr>
          <p:cNvPr id="3" name="Content Placeholder 2">
            <a:extLst>
              <a:ext uri="{FF2B5EF4-FFF2-40B4-BE49-F238E27FC236}">
                <a16:creationId xmlns:a16="http://schemas.microsoft.com/office/drawing/2014/main" id="{5894657A-0698-25B8-7CB8-ADBE5FB9F0F8}"/>
              </a:ext>
            </a:extLst>
          </p:cNvPr>
          <p:cNvSpPr>
            <a:spLocks noGrp="1"/>
          </p:cNvSpPr>
          <p:nvPr>
            <p:ph idx="1"/>
          </p:nvPr>
        </p:nvSpPr>
        <p:spPr>
          <a:xfrm>
            <a:off x="1484310" y="1066800"/>
            <a:ext cx="10018713" cy="5791200"/>
          </a:xfrm>
        </p:spPr>
        <p:txBody>
          <a:bodyPr>
            <a:normAutofit fontScale="40000" lnSpcReduction="20000"/>
          </a:bodyPr>
          <a:lstStyle/>
          <a:p>
            <a:r>
              <a:rPr lang="en-IN" sz="3800" b="1"/>
              <a:t>Presentation Layer (Front‑End)</a:t>
            </a:r>
          </a:p>
          <a:p>
            <a:r>
              <a:rPr lang="en-IN" sz="3800" b="1"/>
              <a:t>User Interface (UI):</a:t>
            </a:r>
            <a:endParaRPr lang="en-IN" sz="3800"/>
          </a:p>
          <a:p>
            <a:pPr lvl="1"/>
            <a:r>
              <a:rPr lang="en-IN" sz="2900"/>
              <a:t>Displays quiz questions, options, scores, leaderboards.</a:t>
            </a:r>
          </a:p>
          <a:p>
            <a:pPr lvl="1"/>
            <a:r>
              <a:rPr lang="en-IN" sz="2900"/>
              <a:t>Provides login/registration screens </a:t>
            </a:r>
          </a:p>
          <a:p>
            <a:r>
              <a:rPr lang="en-IN" b="1"/>
              <a:t>2</a:t>
            </a:r>
            <a:r>
              <a:rPr lang="en-IN" sz="3800" b="1"/>
              <a:t>. Application Layer (Back‑End Logic)</a:t>
            </a:r>
          </a:p>
          <a:p>
            <a:r>
              <a:rPr lang="en-IN" b="1"/>
              <a:t>Game Engine / Controller:</a:t>
            </a:r>
            <a:endParaRPr lang="en-IN"/>
          </a:p>
          <a:p>
            <a:pPr lvl="1"/>
            <a:r>
              <a:rPr lang="en-IN" sz="2900"/>
              <a:t>Manages quiz flow (question sequencing, timers, scoring).</a:t>
            </a:r>
          </a:p>
          <a:p>
            <a:pPr lvl="1"/>
            <a:r>
              <a:rPr lang="en-IN" sz="2900"/>
              <a:t>Handles rules (e.g., negative marking, hints).</a:t>
            </a:r>
          </a:p>
          <a:p>
            <a:r>
              <a:rPr lang="en-IN" sz="3300" b="1"/>
              <a:t>Content Management:</a:t>
            </a:r>
            <a:endParaRPr lang="en-IN" sz="3300"/>
          </a:p>
          <a:p>
            <a:pPr lvl="1"/>
            <a:r>
              <a:rPr lang="en-IN" sz="3300"/>
              <a:t>CRUD operations for quiz questions (create, read, update, delete</a:t>
            </a:r>
            <a:r>
              <a:rPr lang="en-IN"/>
              <a:t>).</a:t>
            </a:r>
          </a:p>
          <a:p>
            <a:r>
              <a:rPr lang="en-IN" sz="4500" b="1"/>
              <a:t>Leaderboard &amp; Analytics:</a:t>
            </a:r>
            <a:endParaRPr lang="en-IN" sz="4500"/>
          </a:p>
          <a:p>
            <a:pPr lvl="1"/>
            <a:r>
              <a:rPr lang="en-IN" sz="3300"/>
              <a:t>Tracks scores, ranks, and player statistics.</a:t>
            </a:r>
          </a:p>
          <a:p>
            <a:r>
              <a:rPr lang="en-IN" sz="4500" b="1"/>
              <a:t>3. Data Layer</a:t>
            </a:r>
          </a:p>
          <a:p>
            <a:r>
              <a:rPr lang="en-IN" sz="4500" b="1"/>
              <a:t>Database:</a:t>
            </a:r>
            <a:endParaRPr lang="en-IN" sz="4500"/>
          </a:p>
          <a:p>
            <a:pPr lvl="1"/>
            <a:r>
              <a:rPr lang="en-IN" sz="3800"/>
              <a:t>Stores user accounts, quiz questions, scores, and history.</a:t>
            </a:r>
          </a:p>
          <a:p>
            <a:pPr lvl="1"/>
            <a:r>
              <a:rPr lang="en-IN" sz="3800"/>
              <a:t>Example: MySQL, PostgreSQL, MongoDB.</a:t>
            </a:r>
          </a:p>
          <a:p>
            <a:r>
              <a:rPr lang="en-IN" sz="3800" b="1"/>
              <a:t>Logs &amp; Audit:</a:t>
            </a:r>
            <a:endParaRPr lang="en-IN" sz="3800"/>
          </a:p>
          <a:p>
            <a:pPr lvl="1"/>
            <a:r>
              <a:rPr lang="en-IN" sz="3800"/>
              <a:t>Tracks user activity and system events</a:t>
            </a:r>
            <a:r>
              <a:rPr lang="en-IN"/>
              <a:t>.</a:t>
            </a:r>
          </a:p>
          <a:p>
            <a:pPr lvl="1"/>
            <a:r>
              <a:rPr lang="en-IN"/>
              <a:t>.</a:t>
            </a:r>
          </a:p>
          <a:p>
            <a:endParaRPr lang="en-IN"/>
          </a:p>
        </p:txBody>
      </p:sp>
      <p:pic>
        <p:nvPicPr>
          <p:cNvPr id="6145" name="Picture 1">
            <a:extLst>
              <a:ext uri="{FF2B5EF4-FFF2-40B4-BE49-F238E27FC236}">
                <a16:creationId xmlns:a16="http://schemas.microsoft.com/office/drawing/2014/main" id="{88C2E621-9685-4832-8445-EEC744AC78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2332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9592E-1D3C-C397-B775-810633C578EE}"/>
              </a:ext>
            </a:extLst>
          </p:cNvPr>
          <p:cNvSpPr>
            <a:spLocks noGrp="1"/>
          </p:cNvSpPr>
          <p:nvPr>
            <p:ph type="title"/>
          </p:nvPr>
        </p:nvSpPr>
        <p:spPr>
          <a:xfrm>
            <a:off x="1484311" y="442453"/>
            <a:ext cx="10018713" cy="624348"/>
          </a:xfrm>
        </p:spPr>
        <p:txBody>
          <a:bodyPr>
            <a:normAutofit fontScale="90000"/>
          </a:bodyPr>
          <a:lstStyle/>
          <a:p>
            <a:r>
              <a:rPr lang="en-IN"/>
              <a:t>System architecture diagram</a:t>
            </a:r>
          </a:p>
        </p:txBody>
      </p:sp>
      <p:pic>
        <p:nvPicPr>
          <p:cNvPr id="5" name="Content Placeholder 4">
            <a:extLst>
              <a:ext uri="{FF2B5EF4-FFF2-40B4-BE49-F238E27FC236}">
                <a16:creationId xmlns:a16="http://schemas.microsoft.com/office/drawing/2014/main" id="{3871BC8F-C4FD-82C6-7764-8513ABD522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06218" y="1470484"/>
            <a:ext cx="3296708" cy="4945063"/>
          </a:xfrm>
        </p:spPr>
      </p:pic>
    </p:spTree>
    <p:extLst>
      <p:ext uri="{BB962C8B-B14F-4D97-AF65-F5344CB8AC3E}">
        <p14:creationId xmlns:p14="http://schemas.microsoft.com/office/powerpoint/2010/main" val="3752092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FA1E1-23CE-3541-6C0A-2DD4D789D052}"/>
              </a:ext>
            </a:extLst>
          </p:cNvPr>
          <p:cNvSpPr>
            <a:spLocks noGrp="1"/>
          </p:cNvSpPr>
          <p:nvPr>
            <p:ph type="title"/>
          </p:nvPr>
        </p:nvSpPr>
        <p:spPr>
          <a:xfrm>
            <a:off x="1484311" y="442453"/>
            <a:ext cx="10018713" cy="624348"/>
          </a:xfrm>
        </p:spPr>
        <p:txBody>
          <a:bodyPr>
            <a:normAutofit fontScale="90000"/>
          </a:bodyPr>
          <a:lstStyle/>
          <a:p>
            <a:r>
              <a:rPr lang="en-IN"/>
              <a:t>Ui wire frames </a:t>
            </a:r>
          </a:p>
        </p:txBody>
      </p:sp>
      <p:pic>
        <p:nvPicPr>
          <p:cNvPr id="5" name="Content Placeholder 4">
            <a:extLst>
              <a:ext uri="{FF2B5EF4-FFF2-40B4-BE49-F238E27FC236}">
                <a16:creationId xmlns:a16="http://schemas.microsoft.com/office/drawing/2014/main" id="{0146FA26-68C4-FD07-BFFA-23AF99D87A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4322" y="1386348"/>
            <a:ext cx="7851059" cy="4699461"/>
          </a:xfrm>
        </p:spPr>
      </p:pic>
    </p:spTree>
    <p:extLst>
      <p:ext uri="{BB962C8B-B14F-4D97-AF65-F5344CB8AC3E}">
        <p14:creationId xmlns:p14="http://schemas.microsoft.com/office/powerpoint/2010/main" val="2448699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6E71E-5AD8-A8A0-BDAB-EA9413ABEEBF}"/>
              </a:ext>
            </a:extLst>
          </p:cNvPr>
          <p:cNvSpPr>
            <a:spLocks noGrp="1"/>
          </p:cNvSpPr>
          <p:nvPr>
            <p:ph type="title"/>
          </p:nvPr>
        </p:nvSpPr>
        <p:spPr>
          <a:xfrm>
            <a:off x="1749782" y="190500"/>
            <a:ext cx="10018713" cy="979539"/>
          </a:xfrm>
        </p:spPr>
        <p:txBody>
          <a:bodyPr/>
          <a:lstStyle/>
          <a:p>
            <a:r>
              <a:rPr lang="en-IN"/>
              <a:t>Database design </a:t>
            </a:r>
          </a:p>
        </p:txBody>
      </p:sp>
      <p:sp>
        <p:nvSpPr>
          <p:cNvPr id="3" name="Content Placeholder 2">
            <a:extLst>
              <a:ext uri="{FF2B5EF4-FFF2-40B4-BE49-F238E27FC236}">
                <a16:creationId xmlns:a16="http://schemas.microsoft.com/office/drawing/2014/main" id="{9CFF3ABA-A12B-2E4E-4FB3-5BFD7AD518D5}"/>
              </a:ext>
            </a:extLst>
          </p:cNvPr>
          <p:cNvSpPr>
            <a:spLocks noGrp="1"/>
          </p:cNvSpPr>
          <p:nvPr>
            <p:ph idx="1"/>
          </p:nvPr>
        </p:nvSpPr>
        <p:spPr>
          <a:xfrm>
            <a:off x="1749782" y="1386348"/>
            <a:ext cx="10018713" cy="4925961"/>
          </a:xfrm>
        </p:spPr>
        <p:txBody>
          <a:bodyPr/>
          <a:lstStyle/>
          <a:p>
            <a:r>
              <a:rPr lang="en-US"/>
              <a:t>A well-structured database design is essential for the efficient functioning of a quiz game application. The design typically includes multiple interrelated tables to manage users, questions, answers, scores, and game sessions. The </a:t>
            </a:r>
            <a:r>
              <a:rPr lang="en-US" b="1"/>
              <a:t>Users</a:t>
            </a:r>
            <a:r>
              <a:rPr lang="en-US"/>
              <a:t> table stores player information such as username, email, and login credentials. The </a:t>
            </a:r>
            <a:r>
              <a:rPr lang="en-US" b="1"/>
              <a:t>Questions</a:t>
            </a:r>
            <a:r>
              <a:rPr lang="en-US"/>
              <a:t> table holds quiz content, including question text, category, difficulty level, and correct answer. An </a:t>
            </a:r>
            <a:r>
              <a:rPr lang="en-US" b="1"/>
              <a:t>Answers</a:t>
            </a:r>
            <a:r>
              <a:rPr lang="en-US"/>
              <a:t> table may be used to store multiple-choice options linked to each question. The </a:t>
            </a:r>
            <a:r>
              <a:rPr lang="en-US" b="1"/>
              <a:t>Scores</a:t>
            </a:r>
            <a:r>
              <a:rPr lang="en-US"/>
              <a:t> table tracks player performance, recording points earned, time taken, and quiz completion status. Additionally, a </a:t>
            </a:r>
            <a:r>
              <a:rPr lang="en-US" b="1"/>
              <a:t>GameSessions</a:t>
            </a:r>
            <a:r>
              <a:rPr lang="en-US"/>
              <a:t> table can log each quiz attempt, linking users to specific sets of questions and their results. This relational structure ensures data integrity, supports scalability, and enables features like leaderboards, progress tracking, and personalized quiz experiences.</a:t>
            </a:r>
            <a:endParaRPr lang="en-IN"/>
          </a:p>
        </p:txBody>
      </p:sp>
    </p:spTree>
    <p:extLst>
      <p:ext uri="{BB962C8B-B14F-4D97-AF65-F5344CB8AC3E}">
        <p14:creationId xmlns:p14="http://schemas.microsoft.com/office/powerpoint/2010/main" val="3680289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BC1AF-AFC7-74BB-2777-B4B6F19AB0A6}"/>
              </a:ext>
            </a:extLst>
          </p:cNvPr>
          <p:cNvSpPr>
            <a:spLocks noGrp="1"/>
          </p:cNvSpPr>
          <p:nvPr>
            <p:ph type="title"/>
          </p:nvPr>
        </p:nvSpPr>
        <p:spPr>
          <a:xfrm>
            <a:off x="1484311" y="685800"/>
            <a:ext cx="10018713" cy="661219"/>
          </a:xfrm>
        </p:spPr>
        <p:txBody>
          <a:bodyPr>
            <a:normAutofit fontScale="90000"/>
          </a:bodyPr>
          <a:lstStyle/>
          <a:p>
            <a:r>
              <a:rPr lang="en-IN"/>
              <a:t>Activity sheet -3 </a:t>
            </a:r>
            <a:br>
              <a:rPr lang="en-IN"/>
            </a:br>
            <a:r>
              <a:rPr lang="en-IN"/>
              <a:t>( development phase)</a:t>
            </a:r>
          </a:p>
        </p:txBody>
      </p:sp>
      <p:sp>
        <p:nvSpPr>
          <p:cNvPr id="3" name="Content Placeholder 2">
            <a:extLst>
              <a:ext uri="{FF2B5EF4-FFF2-40B4-BE49-F238E27FC236}">
                <a16:creationId xmlns:a16="http://schemas.microsoft.com/office/drawing/2014/main" id="{33C65A52-4B68-6AD6-5A51-61A34CE4FECA}"/>
              </a:ext>
            </a:extLst>
          </p:cNvPr>
          <p:cNvSpPr>
            <a:spLocks noGrp="1"/>
          </p:cNvSpPr>
          <p:nvPr>
            <p:ph idx="1"/>
          </p:nvPr>
        </p:nvSpPr>
        <p:spPr>
          <a:xfrm>
            <a:off x="1484310" y="1809135"/>
            <a:ext cx="10018713" cy="4562168"/>
          </a:xfrm>
        </p:spPr>
        <p:txBody>
          <a:bodyPr/>
          <a:lstStyle/>
          <a:p>
            <a:r>
              <a:rPr lang="en-US"/>
              <a:t>the development phase of the quiz game project, the team maintains a structured backlog to prioritize and track tasks. The backlog includes user stories, technical tasks, and bug fixes, organized by sprint and feature. For Feature 1 — the core quiz functionality — the development team focuses on implementing the question display logic, answer selection mechanism, and scoring system. This involves writing clean, modular code to fetch questions from the database, render them dynamically on the user interface, and validate user responses in real time. The code also updates the score based on correct answers and transitions smoothly between questions, ensuring a responsive and engaging gameplay experience.</a:t>
            </a:r>
            <a:endParaRPr lang="en-IN"/>
          </a:p>
        </p:txBody>
      </p:sp>
    </p:spTree>
    <p:extLst>
      <p:ext uri="{BB962C8B-B14F-4D97-AF65-F5344CB8AC3E}">
        <p14:creationId xmlns:p14="http://schemas.microsoft.com/office/powerpoint/2010/main" val="2510122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8ECC1-C428-59E1-E422-F04B4A36134D}"/>
              </a:ext>
            </a:extLst>
          </p:cNvPr>
          <p:cNvSpPr>
            <a:spLocks noGrp="1"/>
          </p:cNvSpPr>
          <p:nvPr>
            <p:ph type="title"/>
          </p:nvPr>
        </p:nvSpPr>
        <p:spPr>
          <a:xfrm>
            <a:off x="1602300" y="-98321"/>
            <a:ext cx="10018713" cy="521110"/>
          </a:xfrm>
        </p:spPr>
        <p:txBody>
          <a:bodyPr>
            <a:normAutofit fontScale="90000"/>
          </a:bodyPr>
          <a:lstStyle/>
          <a:p>
            <a:r>
              <a:rPr lang="en-IN"/>
              <a:t>Activity -4(testing phase)</a:t>
            </a:r>
          </a:p>
        </p:txBody>
      </p:sp>
      <p:graphicFrame>
        <p:nvGraphicFramePr>
          <p:cNvPr id="4" name="Content Placeholder 3">
            <a:extLst>
              <a:ext uri="{FF2B5EF4-FFF2-40B4-BE49-F238E27FC236}">
                <a16:creationId xmlns:a16="http://schemas.microsoft.com/office/drawing/2014/main" id="{8987D185-27F0-87CE-CB00-38F0895C2419}"/>
              </a:ext>
            </a:extLst>
          </p:cNvPr>
          <p:cNvGraphicFramePr>
            <a:graphicFrameLocks noGrp="1"/>
          </p:cNvGraphicFramePr>
          <p:nvPr>
            <p:ph idx="1"/>
            <p:extLst>
              <p:ext uri="{D42A27DB-BD31-4B8C-83A1-F6EECF244321}">
                <p14:modId xmlns:p14="http://schemas.microsoft.com/office/powerpoint/2010/main" val="1060977741"/>
              </p:ext>
            </p:extLst>
          </p:nvPr>
        </p:nvGraphicFramePr>
        <p:xfrm>
          <a:off x="2418735" y="707571"/>
          <a:ext cx="7030067" cy="6035040"/>
        </p:xfrm>
        <a:graphic>
          <a:graphicData uri="http://schemas.openxmlformats.org/drawingml/2006/table">
            <a:tbl>
              <a:tblPr firstRow="1" bandRow="1">
                <a:tableStyleId>{7DF18680-E054-41AD-8BC1-D1AEF772440D}</a:tableStyleId>
              </a:tblPr>
              <a:tblGrid>
                <a:gridCol w="1152528">
                  <a:extLst>
                    <a:ext uri="{9D8B030D-6E8A-4147-A177-3AD203B41FA5}">
                      <a16:colId xmlns:a16="http://schemas.microsoft.com/office/drawing/2014/main" val="2013080643"/>
                    </a:ext>
                  </a:extLst>
                </a:gridCol>
                <a:gridCol w="1248110">
                  <a:extLst>
                    <a:ext uri="{9D8B030D-6E8A-4147-A177-3AD203B41FA5}">
                      <a16:colId xmlns:a16="http://schemas.microsoft.com/office/drawing/2014/main" val="3276172005"/>
                    </a:ext>
                  </a:extLst>
                </a:gridCol>
                <a:gridCol w="1248110">
                  <a:extLst>
                    <a:ext uri="{9D8B030D-6E8A-4147-A177-3AD203B41FA5}">
                      <a16:colId xmlns:a16="http://schemas.microsoft.com/office/drawing/2014/main" val="363308523"/>
                    </a:ext>
                  </a:extLst>
                </a:gridCol>
                <a:gridCol w="1248110">
                  <a:extLst>
                    <a:ext uri="{9D8B030D-6E8A-4147-A177-3AD203B41FA5}">
                      <a16:colId xmlns:a16="http://schemas.microsoft.com/office/drawing/2014/main" val="58097292"/>
                    </a:ext>
                  </a:extLst>
                </a:gridCol>
                <a:gridCol w="1248110">
                  <a:extLst>
                    <a:ext uri="{9D8B030D-6E8A-4147-A177-3AD203B41FA5}">
                      <a16:colId xmlns:a16="http://schemas.microsoft.com/office/drawing/2014/main" val="4172083427"/>
                    </a:ext>
                  </a:extLst>
                </a:gridCol>
                <a:gridCol w="885099">
                  <a:extLst>
                    <a:ext uri="{9D8B030D-6E8A-4147-A177-3AD203B41FA5}">
                      <a16:colId xmlns:a16="http://schemas.microsoft.com/office/drawing/2014/main" val="2898770718"/>
                    </a:ext>
                  </a:extLst>
                </a:gridCol>
              </a:tblGrid>
              <a:tr h="617682">
                <a:tc>
                  <a:txBody>
                    <a:bodyPr/>
                    <a:lstStyle/>
                    <a:p>
                      <a:r>
                        <a:rPr lang="en-IN"/>
                        <a:t>Test id </a:t>
                      </a:r>
                    </a:p>
                  </a:txBody>
                  <a:tcPr/>
                </a:tc>
                <a:tc>
                  <a:txBody>
                    <a:bodyPr/>
                    <a:lstStyle/>
                    <a:p>
                      <a:r>
                        <a:rPr lang="en-IN"/>
                        <a:t>Description </a:t>
                      </a:r>
                    </a:p>
                  </a:txBody>
                  <a:tcPr/>
                </a:tc>
                <a:tc>
                  <a:txBody>
                    <a:bodyPr/>
                    <a:lstStyle/>
                    <a:p>
                      <a:r>
                        <a:rPr lang="en-IN"/>
                        <a:t>Steps </a:t>
                      </a:r>
                    </a:p>
                  </a:txBody>
                  <a:tcPr/>
                </a:tc>
                <a:tc>
                  <a:txBody>
                    <a:bodyPr/>
                    <a:lstStyle/>
                    <a:p>
                      <a:r>
                        <a:rPr lang="en-IN" err="1"/>
                        <a:t>Exepected</a:t>
                      </a:r>
                      <a:r>
                        <a:rPr lang="en-IN"/>
                        <a:t> result </a:t>
                      </a:r>
                    </a:p>
                  </a:txBody>
                  <a:tcPr/>
                </a:tc>
                <a:tc>
                  <a:txBody>
                    <a:bodyPr/>
                    <a:lstStyle/>
                    <a:p>
                      <a:r>
                        <a:rPr lang="en-IN"/>
                        <a:t>Actual result </a:t>
                      </a:r>
                    </a:p>
                  </a:txBody>
                  <a:tcPr/>
                </a:tc>
                <a:tc>
                  <a:txBody>
                    <a:bodyPr/>
                    <a:lstStyle/>
                    <a:p>
                      <a:r>
                        <a:rPr lang="en-IN"/>
                        <a:t>Test </a:t>
                      </a:r>
                    </a:p>
                  </a:txBody>
                  <a:tcPr/>
                </a:tc>
                <a:extLst>
                  <a:ext uri="{0D108BD9-81ED-4DB2-BD59-A6C34878D82A}">
                    <a16:rowId xmlns:a16="http://schemas.microsoft.com/office/drawing/2014/main" val="3805405664"/>
                  </a:ext>
                </a:extLst>
              </a:tr>
              <a:tr h="1970699">
                <a:tc>
                  <a:txBody>
                    <a:bodyPr/>
                    <a:lstStyle/>
                    <a:p>
                      <a:r>
                        <a:rPr lang="en-IN"/>
                        <a:t>Tc-1</a:t>
                      </a:r>
                    </a:p>
                  </a:txBody>
                  <a:tcPr/>
                </a:tc>
                <a:tc>
                  <a:txBody>
                    <a:bodyPr/>
                    <a:lstStyle/>
                    <a:p>
                      <a:r>
                        <a:rPr lang="en-IN" sz="1600" kern="1200">
                          <a:solidFill>
                            <a:schemeClr val="dk1"/>
                          </a:solidFill>
                          <a:effectLst/>
                          <a:latin typeface="+mn-lt"/>
                          <a:ea typeface="+mn-ea"/>
                          <a:cs typeface="+mn-cs"/>
                        </a:rPr>
                        <a:t>Login </a:t>
                      </a:r>
                      <a:r>
                        <a:rPr lang="en-IN" sz="1600" kern="1200" err="1">
                          <a:solidFill>
                            <a:schemeClr val="dk1"/>
                          </a:solidFill>
                          <a:effectLst/>
                          <a:latin typeface="+mn-lt"/>
                          <a:ea typeface="+mn-ea"/>
                          <a:cs typeface="+mn-cs"/>
                        </a:rPr>
                        <a:t>functanility</a:t>
                      </a:r>
                      <a:r>
                        <a:rPr lang="en-IN" sz="1600" kern="1200">
                          <a:solidFill>
                            <a:schemeClr val="dk1"/>
                          </a:solidFill>
                          <a:effectLst/>
                          <a:latin typeface="+mn-lt"/>
                          <a:ea typeface="+mn-ea"/>
                          <a:cs typeface="+mn-cs"/>
                        </a:rPr>
                        <a:t> </a:t>
                      </a:r>
                    </a:p>
                  </a:txBody>
                  <a:tcPr/>
                </a:tc>
                <a:tc>
                  <a:txBody>
                    <a:bodyPr/>
                    <a:lstStyle/>
                    <a:p>
                      <a:r>
                        <a:rPr lang="en-US" sz="1600">
                          <a:effectLst/>
                        </a:rPr>
                        <a:t>Open the quiz game app.</a:t>
                      </a:r>
                    </a:p>
                    <a:p>
                      <a:r>
                        <a:rPr lang="en-US" sz="1600">
                          <a:effectLst/>
                        </a:rPr>
                        <a:t>Enter valid username and password</a:t>
                      </a:r>
                    </a:p>
                    <a:p>
                      <a:endParaRPr lang="en-IN" sz="1600"/>
                    </a:p>
                  </a:txBody>
                  <a:tcPr/>
                </a:tc>
                <a:tc>
                  <a:txBody>
                    <a:bodyPr/>
                    <a:lstStyle/>
                    <a:p>
                      <a:r>
                        <a:rPr lang="en-IN" sz="1600"/>
                        <a:t>User login success fully </a:t>
                      </a:r>
                    </a:p>
                  </a:txBody>
                  <a:tcPr/>
                </a:tc>
                <a:tc>
                  <a:txBody>
                    <a:bodyPr/>
                    <a:lstStyle/>
                    <a:p>
                      <a:r>
                        <a:rPr lang="en-IN" sz="1600"/>
                        <a:t>User logged in correctly </a:t>
                      </a:r>
                    </a:p>
                  </a:txBody>
                  <a:tcPr/>
                </a:tc>
                <a:tc>
                  <a:txBody>
                    <a:bodyPr/>
                    <a:lstStyle/>
                    <a:p>
                      <a:r>
                        <a:rPr lang="en-IN" sz="1600"/>
                        <a:t>Pass/fail</a:t>
                      </a:r>
                    </a:p>
                  </a:txBody>
                  <a:tcPr/>
                </a:tc>
                <a:extLst>
                  <a:ext uri="{0D108BD9-81ED-4DB2-BD59-A6C34878D82A}">
                    <a16:rowId xmlns:a16="http://schemas.microsoft.com/office/drawing/2014/main" val="4147977628"/>
                  </a:ext>
                </a:extLst>
              </a:tr>
              <a:tr h="1970699">
                <a:tc>
                  <a:txBody>
                    <a:bodyPr/>
                    <a:lstStyle/>
                    <a:p>
                      <a:r>
                        <a:rPr lang="en-IN"/>
                        <a:t>Tc-2</a:t>
                      </a:r>
                    </a:p>
                  </a:txBody>
                  <a:tcPr/>
                </a:tc>
                <a:tc>
                  <a:txBody>
                    <a:bodyPr/>
                    <a:lstStyle/>
                    <a:p>
                      <a:r>
                        <a:rPr lang="en-IN" sz="1600"/>
                        <a:t>Start quiz flow </a:t>
                      </a:r>
                    </a:p>
                  </a:txBody>
                  <a:tcPr/>
                </a:tc>
                <a:tc>
                  <a:txBody>
                    <a:bodyPr/>
                    <a:lstStyle/>
                    <a:p>
                      <a:r>
                        <a:rPr lang="en-US" sz="1600">
                          <a:effectLst/>
                        </a:rPr>
                        <a:t>From the home screen, select </a:t>
                      </a:r>
                      <a:r>
                        <a:rPr lang="en-US" sz="1600" b="1">
                          <a:effectLst/>
                        </a:rPr>
                        <a:t>Start Quiz</a:t>
                      </a:r>
                      <a:r>
                        <a:rPr lang="en-US" sz="1600">
                          <a:effectLst/>
                        </a:rPr>
                        <a:t>.</a:t>
                      </a:r>
                    </a:p>
                    <a:p>
                      <a:r>
                        <a:rPr lang="en-US" sz="1600">
                          <a:effectLst/>
                        </a:rPr>
                        <a:t>The first question should load.</a:t>
                      </a:r>
                    </a:p>
                  </a:txBody>
                  <a:tcPr/>
                </a:tc>
                <a:tc>
                  <a:txBody>
                    <a:bodyPr/>
                    <a:lstStyle/>
                    <a:p>
                      <a:r>
                        <a:rPr lang="en-IN" sz="1600"/>
                        <a:t>Quiz question score update </a:t>
                      </a:r>
                    </a:p>
                  </a:txBody>
                  <a:tcPr/>
                </a:tc>
                <a:tc>
                  <a:txBody>
                    <a:bodyPr/>
                    <a:lstStyle/>
                    <a:p>
                      <a:r>
                        <a:rPr lang="en-IN" sz="1600"/>
                        <a:t>Question displayed score updated</a:t>
                      </a:r>
                    </a:p>
                  </a:txBody>
                  <a:tcPr/>
                </a:tc>
                <a:tc>
                  <a:txBody>
                    <a:bodyPr/>
                    <a:lstStyle/>
                    <a:p>
                      <a:r>
                        <a:rPr lang="en-IN" sz="1600"/>
                        <a:t>Pass/fail</a:t>
                      </a:r>
                    </a:p>
                  </a:txBody>
                  <a:tcPr/>
                </a:tc>
                <a:extLst>
                  <a:ext uri="{0D108BD9-81ED-4DB2-BD59-A6C34878D82A}">
                    <a16:rowId xmlns:a16="http://schemas.microsoft.com/office/drawing/2014/main" val="2001075351"/>
                  </a:ext>
                </a:extLst>
              </a:tr>
              <a:tr h="1264778">
                <a:tc>
                  <a:txBody>
                    <a:bodyPr/>
                    <a:lstStyle/>
                    <a:p>
                      <a:r>
                        <a:rPr lang="en-IN"/>
                        <a:t>Tc-3</a:t>
                      </a:r>
                    </a:p>
                  </a:txBody>
                  <a:tcPr/>
                </a:tc>
                <a:tc>
                  <a:txBody>
                    <a:bodyPr/>
                    <a:lstStyle/>
                    <a:p>
                      <a:r>
                        <a:rPr lang="en-IN" sz="1600"/>
                        <a:t>Leaderboard update </a:t>
                      </a:r>
                    </a:p>
                  </a:txBody>
                  <a:tcPr/>
                </a:tc>
                <a:tc>
                  <a:txBody>
                    <a:bodyPr/>
                    <a:lstStyle/>
                    <a:p>
                      <a:r>
                        <a:rPr lang="en-US" sz="1600">
                          <a:effectLst/>
                        </a:rPr>
                        <a:t>Complete the quiz by answering all questions</a:t>
                      </a:r>
                    </a:p>
                  </a:txBody>
                  <a:tcPr/>
                </a:tc>
                <a:tc>
                  <a:txBody>
                    <a:bodyPr/>
                    <a:lstStyle/>
                    <a:p>
                      <a:r>
                        <a:rPr lang="en-IN" sz="1600" err="1"/>
                        <a:t>Learderboard</a:t>
                      </a:r>
                      <a:r>
                        <a:rPr lang="en-IN" sz="1600"/>
                        <a:t> show update score and percentage </a:t>
                      </a:r>
                    </a:p>
                  </a:txBody>
                  <a:tcPr/>
                </a:tc>
                <a:tc>
                  <a:txBody>
                    <a:bodyPr/>
                    <a:lstStyle/>
                    <a:p>
                      <a:r>
                        <a:rPr lang="en-IN" sz="1600"/>
                        <a:t>Leaderboard is updated correctly </a:t>
                      </a:r>
                    </a:p>
                  </a:txBody>
                  <a:tcPr/>
                </a:tc>
                <a:tc>
                  <a:txBody>
                    <a:bodyPr/>
                    <a:lstStyle/>
                    <a:p>
                      <a:r>
                        <a:rPr lang="en-IN" sz="1600"/>
                        <a:t>Pass/fail</a:t>
                      </a:r>
                    </a:p>
                  </a:txBody>
                  <a:tcPr/>
                </a:tc>
                <a:extLst>
                  <a:ext uri="{0D108BD9-81ED-4DB2-BD59-A6C34878D82A}">
                    <a16:rowId xmlns:a16="http://schemas.microsoft.com/office/drawing/2014/main" val="2450714730"/>
                  </a:ext>
                </a:extLst>
              </a:tr>
            </a:tbl>
          </a:graphicData>
        </a:graphic>
      </p:graphicFrame>
    </p:spTree>
    <p:extLst>
      <p:ext uri="{BB962C8B-B14F-4D97-AF65-F5344CB8AC3E}">
        <p14:creationId xmlns:p14="http://schemas.microsoft.com/office/powerpoint/2010/main" val="3204888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A0E61-9781-2F51-F579-3536551F8CC4}"/>
              </a:ext>
            </a:extLst>
          </p:cNvPr>
          <p:cNvSpPr>
            <a:spLocks noGrp="1"/>
          </p:cNvSpPr>
          <p:nvPr>
            <p:ph type="title"/>
          </p:nvPr>
        </p:nvSpPr>
        <p:spPr>
          <a:xfrm>
            <a:off x="1484311" y="413657"/>
            <a:ext cx="10018713" cy="653144"/>
          </a:xfrm>
        </p:spPr>
        <p:txBody>
          <a:bodyPr>
            <a:normAutofit fontScale="90000"/>
          </a:bodyPr>
          <a:lstStyle/>
          <a:p>
            <a:r>
              <a:rPr lang="en-IN"/>
              <a:t>Activity -5(deployment and release notes)</a:t>
            </a:r>
          </a:p>
        </p:txBody>
      </p:sp>
      <p:sp>
        <p:nvSpPr>
          <p:cNvPr id="3" name="Content Placeholder 2">
            <a:extLst>
              <a:ext uri="{FF2B5EF4-FFF2-40B4-BE49-F238E27FC236}">
                <a16:creationId xmlns:a16="http://schemas.microsoft.com/office/drawing/2014/main" id="{528296DD-B8F2-CE11-6ED1-CDBBFE8580D2}"/>
              </a:ext>
            </a:extLst>
          </p:cNvPr>
          <p:cNvSpPr>
            <a:spLocks noGrp="1"/>
          </p:cNvSpPr>
          <p:nvPr>
            <p:ph sz="half" idx="1"/>
          </p:nvPr>
        </p:nvSpPr>
        <p:spPr>
          <a:xfrm>
            <a:off x="1484312" y="1360715"/>
            <a:ext cx="4992688" cy="5083628"/>
          </a:xfrm>
        </p:spPr>
        <p:txBody>
          <a:bodyPr/>
          <a:lstStyle/>
          <a:p>
            <a:r>
              <a:rPr lang="en-US" b="1"/>
              <a:t>Deployment Checklist</a:t>
            </a:r>
            <a:r>
              <a:rPr lang="en-US" sz="2000" b="1"/>
              <a:t>:</a:t>
            </a:r>
            <a:r>
              <a:rPr lang="en-US" sz="2000"/>
              <a:t> Before releasing the quiz game, the deployment checklist ensures all critical tasks are completed. This includes setting up servers, migrating the database, configuring APIs, applying security measures, and running final UI and performance tests. The checklist also verifies user authentication, leaderboard synchronization, and system stability under expected loads.</a:t>
            </a:r>
            <a:endParaRPr lang="en-IN" sz="2000"/>
          </a:p>
        </p:txBody>
      </p:sp>
      <p:sp>
        <p:nvSpPr>
          <p:cNvPr id="4" name="Content Placeholder 3">
            <a:extLst>
              <a:ext uri="{FF2B5EF4-FFF2-40B4-BE49-F238E27FC236}">
                <a16:creationId xmlns:a16="http://schemas.microsoft.com/office/drawing/2014/main" id="{C0B7AABD-9437-9AD1-E1A3-8EC39A8FE5D6}"/>
              </a:ext>
            </a:extLst>
          </p:cNvPr>
          <p:cNvSpPr>
            <a:spLocks noGrp="1"/>
          </p:cNvSpPr>
          <p:nvPr>
            <p:ph sz="half" idx="2"/>
          </p:nvPr>
        </p:nvSpPr>
        <p:spPr>
          <a:xfrm>
            <a:off x="6694714" y="1469571"/>
            <a:ext cx="5497286" cy="4974771"/>
          </a:xfrm>
        </p:spPr>
        <p:txBody>
          <a:bodyPr/>
          <a:lstStyle/>
          <a:p>
            <a:r>
              <a:rPr lang="en-US" b="1"/>
              <a:t>Known Issues:</a:t>
            </a:r>
            <a:r>
              <a:rPr lang="en-US"/>
              <a:t> </a:t>
            </a:r>
            <a:r>
              <a:rPr lang="en-US" sz="2000"/>
              <a:t>Despite successful deployment, a few issues remain. These include occasional delays in leaderboard updates, minor inconsistencies in the mobile interface, and limited offline functionality. These issues do not block core gameplay but are flagged for future improvement</a:t>
            </a:r>
            <a:r>
              <a:rPr lang="en-US"/>
              <a:t>.</a:t>
            </a:r>
            <a:endParaRPr lang="en-IN"/>
          </a:p>
        </p:txBody>
      </p:sp>
    </p:spTree>
    <p:extLst>
      <p:ext uri="{BB962C8B-B14F-4D97-AF65-F5344CB8AC3E}">
        <p14:creationId xmlns:p14="http://schemas.microsoft.com/office/powerpoint/2010/main" val="972291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F93D1-C5DE-3B6C-F726-398FA390D549}"/>
              </a:ext>
            </a:extLst>
          </p:cNvPr>
          <p:cNvSpPr>
            <a:spLocks noGrp="1"/>
          </p:cNvSpPr>
          <p:nvPr>
            <p:ph type="title"/>
          </p:nvPr>
        </p:nvSpPr>
        <p:spPr>
          <a:xfrm>
            <a:off x="1484311" y="685800"/>
            <a:ext cx="10018713" cy="511629"/>
          </a:xfrm>
        </p:spPr>
        <p:txBody>
          <a:bodyPr>
            <a:normAutofit fontScale="90000"/>
          </a:bodyPr>
          <a:lstStyle/>
          <a:p>
            <a:r>
              <a:rPr lang="en-IN"/>
              <a:t>Features included</a:t>
            </a:r>
          </a:p>
        </p:txBody>
      </p:sp>
      <p:sp>
        <p:nvSpPr>
          <p:cNvPr id="3" name="Content Placeholder 2">
            <a:extLst>
              <a:ext uri="{FF2B5EF4-FFF2-40B4-BE49-F238E27FC236}">
                <a16:creationId xmlns:a16="http://schemas.microsoft.com/office/drawing/2014/main" id="{D9AFE005-A39A-3F80-B36B-F8666F81645E}"/>
              </a:ext>
            </a:extLst>
          </p:cNvPr>
          <p:cNvSpPr>
            <a:spLocks noGrp="1"/>
          </p:cNvSpPr>
          <p:nvPr>
            <p:ph idx="1"/>
          </p:nvPr>
        </p:nvSpPr>
        <p:spPr>
          <a:xfrm>
            <a:off x="1723795" y="1839686"/>
            <a:ext cx="10018713" cy="4332513"/>
          </a:xfrm>
        </p:spPr>
        <p:txBody>
          <a:bodyPr>
            <a:normAutofit fontScale="92500" lnSpcReduction="10000"/>
          </a:bodyPr>
          <a:lstStyle/>
          <a:p>
            <a:r>
              <a:rPr lang="en-US"/>
              <a:t>The deployed version of the quiz game delivers a comprehensive set of features designed to provide both functionality and engagement. Core elements include </a:t>
            </a:r>
            <a:r>
              <a:rPr lang="en-US" b="1"/>
              <a:t>user login and registration</a:t>
            </a:r>
            <a:r>
              <a:rPr lang="en-US"/>
              <a:t>, allowing secure account creation and personalized access. The </a:t>
            </a:r>
            <a:r>
              <a:rPr lang="en-US" b="1"/>
              <a:t>dynamic quiz question display</a:t>
            </a:r>
            <a:r>
              <a:rPr lang="en-US"/>
              <a:t> ensures that questions are fetched from the database in real time, supporting multiple categories and difficulty levels. A robust </a:t>
            </a:r>
            <a:r>
              <a:rPr lang="en-US" b="1"/>
              <a:t>scoring and analytics system</a:t>
            </a:r>
            <a:r>
              <a:rPr lang="en-US"/>
              <a:t> tracks correct answers, calculates points, and provides instant feedback to players. The </a:t>
            </a:r>
            <a:r>
              <a:rPr lang="en-US" b="1"/>
              <a:t>leaderboard</a:t>
            </a:r>
            <a:r>
              <a:rPr lang="en-US"/>
              <a:t> feature ranks users based on performance, encouraging competition and </a:t>
            </a:r>
            <a:r>
              <a:rPr lang="en-US" err="1"/>
              <a:t>replayability</a:t>
            </a:r>
            <a:r>
              <a:rPr lang="en-US"/>
              <a:t>. In addition, the </a:t>
            </a:r>
            <a:r>
              <a:rPr lang="en-US" b="1"/>
              <a:t>settings and profile management</a:t>
            </a:r>
            <a:r>
              <a:rPr lang="en-US"/>
              <a:t> module allows players to update personal details, adjust preferences such as sound and notifications, and review their past performance history. Beyond these essentials, the game also supports </a:t>
            </a:r>
            <a:r>
              <a:rPr lang="en-US" b="1"/>
              <a:t>quiz categorization</a:t>
            </a:r>
            <a:r>
              <a:rPr lang="en-US"/>
              <a:t>, enabling players to choose topics of interest, and </a:t>
            </a:r>
            <a:r>
              <a:rPr lang="en-US" b="1"/>
              <a:t>progress tracking</a:t>
            </a:r>
            <a:r>
              <a:rPr lang="en-US"/>
              <a:t>, </a:t>
            </a:r>
            <a:endParaRPr lang="en-IN"/>
          </a:p>
        </p:txBody>
      </p:sp>
    </p:spTree>
    <p:extLst>
      <p:ext uri="{BB962C8B-B14F-4D97-AF65-F5344CB8AC3E}">
        <p14:creationId xmlns:p14="http://schemas.microsoft.com/office/powerpoint/2010/main" val="2853760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5EE6-0B0D-30DF-9C9E-08525FBF164B}"/>
              </a:ext>
            </a:extLst>
          </p:cNvPr>
          <p:cNvSpPr>
            <a:spLocks noGrp="1"/>
          </p:cNvSpPr>
          <p:nvPr>
            <p:ph type="title"/>
          </p:nvPr>
        </p:nvSpPr>
        <p:spPr>
          <a:xfrm>
            <a:off x="1484311" y="478972"/>
            <a:ext cx="10018713" cy="838199"/>
          </a:xfrm>
        </p:spPr>
        <p:txBody>
          <a:bodyPr/>
          <a:lstStyle/>
          <a:p>
            <a:r>
              <a:rPr lang="en-US"/>
              <a:t>activity-6 (</a:t>
            </a:r>
            <a:r>
              <a:rPr lang="en-US" err="1"/>
              <a:t>Maintance</a:t>
            </a:r>
            <a:r>
              <a:rPr lang="en-US"/>
              <a:t> &amp; reflection)</a:t>
            </a:r>
            <a:endParaRPr lang="en-IN"/>
          </a:p>
        </p:txBody>
      </p:sp>
      <p:sp>
        <p:nvSpPr>
          <p:cNvPr id="3" name="Content Placeholder 2">
            <a:extLst>
              <a:ext uri="{FF2B5EF4-FFF2-40B4-BE49-F238E27FC236}">
                <a16:creationId xmlns:a16="http://schemas.microsoft.com/office/drawing/2014/main" id="{A21CA052-81C2-AF5F-63E7-10AA3809233D}"/>
              </a:ext>
            </a:extLst>
          </p:cNvPr>
          <p:cNvSpPr>
            <a:spLocks noGrp="1"/>
          </p:cNvSpPr>
          <p:nvPr>
            <p:ph idx="1"/>
          </p:nvPr>
        </p:nvSpPr>
        <p:spPr>
          <a:xfrm>
            <a:off x="1484310" y="1665515"/>
            <a:ext cx="10018713" cy="4833256"/>
          </a:xfrm>
        </p:spPr>
        <p:txBody>
          <a:bodyPr/>
          <a:lstStyle/>
          <a:p>
            <a:r>
              <a:rPr lang="en-US" b="1"/>
              <a:t>What Worked Well:</a:t>
            </a:r>
            <a:r>
              <a:rPr lang="en-US"/>
              <a:t> The development and deployment of the quiz game successfully delivered a smooth user experience with core features functioning as intended. The login and registration process worked reliably, ensuring secure access for players. Quiz questions loaded dynamically from the database, and the scoring system provided instant feedback, which kept users engaged. The leaderboard feature encouraged healthy competition, while the settings and profile management allowed personalization. Overall, the system architecture proved stable, and the testing phase confirmed that most modules integrated seamlessly.</a:t>
            </a:r>
          </a:p>
          <a:p>
            <a:endParaRPr lang="en-IN"/>
          </a:p>
        </p:txBody>
      </p:sp>
    </p:spTree>
    <p:extLst>
      <p:ext uri="{BB962C8B-B14F-4D97-AF65-F5344CB8AC3E}">
        <p14:creationId xmlns:p14="http://schemas.microsoft.com/office/powerpoint/2010/main" val="2477568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277EC-222D-8DB0-5CB0-FE89503B199A}"/>
              </a:ext>
            </a:extLst>
          </p:cNvPr>
          <p:cNvSpPr>
            <a:spLocks noGrp="1"/>
          </p:cNvSpPr>
          <p:nvPr>
            <p:ph type="title"/>
          </p:nvPr>
        </p:nvSpPr>
        <p:spPr>
          <a:xfrm>
            <a:off x="1734682" y="-1458686"/>
            <a:ext cx="10018713" cy="1023257"/>
          </a:xfrm>
        </p:spPr>
        <p:txBody>
          <a:bodyPr/>
          <a:lstStyle/>
          <a:p>
            <a:endParaRPr lang="en-IN"/>
          </a:p>
        </p:txBody>
      </p:sp>
      <p:sp>
        <p:nvSpPr>
          <p:cNvPr id="3" name="Content Placeholder 2">
            <a:extLst>
              <a:ext uri="{FF2B5EF4-FFF2-40B4-BE49-F238E27FC236}">
                <a16:creationId xmlns:a16="http://schemas.microsoft.com/office/drawing/2014/main" id="{41B23F1B-356D-91C8-1840-4CCD4066067D}"/>
              </a:ext>
            </a:extLst>
          </p:cNvPr>
          <p:cNvSpPr>
            <a:spLocks noGrp="1"/>
          </p:cNvSpPr>
          <p:nvPr>
            <p:ph sz="half" idx="1"/>
          </p:nvPr>
        </p:nvSpPr>
        <p:spPr>
          <a:xfrm>
            <a:off x="1484312" y="468086"/>
            <a:ext cx="4895055" cy="5323115"/>
          </a:xfrm>
        </p:spPr>
        <p:txBody>
          <a:bodyPr>
            <a:normAutofit/>
          </a:bodyPr>
          <a:lstStyle/>
          <a:p>
            <a:r>
              <a:rPr lang="en-US" b="1"/>
              <a:t>What Needed Improvement:</a:t>
            </a:r>
            <a:r>
              <a:rPr lang="en-US"/>
              <a:t> Despite the strong foundation, several areas require refinement. Minor delays were observed in leaderboard updates, and occasional inconsistencies appeared in the mobile interface. Offline play was limited, reducing accessibility for users without constant internet connectivity. Additionally, scalability testing revealed that performance could be optimized further when handling a large number of concurrent users. Future iterations should focus on enhancing responsiveness, improving UI consistency across devices, and expanding features such as multiplayer modes, timed challenges, and reward systems to enrich the overall gameplay experience.</a:t>
            </a:r>
            <a:endParaRPr lang="en-IN"/>
          </a:p>
        </p:txBody>
      </p:sp>
      <p:sp>
        <p:nvSpPr>
          <p:cNvPr id="4" name="Content Placeholder 3">
            <a:extLst>
              <a:ext uri="{FF2B5EF4-FFF2-40B4-BE49-F238E27FC236}">
                <a16:creationId xmlns:a16="http://schemas.microsoft.com/office/drawing/2014/main" id="{0FA2612C-9831-64A0-67F1-180F90BBE16B}"/>
              </a:ext>
            </a:extLst>
          </p:cNvPr>
          <p:cNvSpPr>
            <a:spLocks noGrp="1"/>
          </p:cNvSpPr>
          <p:nvPr>
            <p:ph sz="half" idx="2"/>
          </p:nvPr>
        </p:nvSpPr>
        <p:spPr>
          <a:xfrm>
            <a:off x="6509657" y="174172"/>
            <a:ext cx="5243738" cy="6074228"/>
          </a:xfrm>
        </p:spPr>
        <p:txBody>
          <a:bodyPr>
            <a:normAutofit/>
          </a:bodyPr>
          <a:lstStyle/>
          <a:p>
            <a:pPr marL="0" indent="0">
              <a:buNone/>
            </a:pPr>
            <a:r>
              <a:rPr lang="en-US" sz="2800"/>
              <a:t>Path log</a:t>
            </a:r>
          </a:p>
          <a:p>
            <a:pPr marL="0" indent="0">
              <a:buNone/>
            </a:pPr>
            <a:r>
              <a:rPr lang="en-US"/>
              <a:t>The path log of the quiz game project provides a comprehensive record of its evolution across all phases, highlighting milestones, challenges, and achievements. It began with the </a:t>
            </a:r>
            <a:r>
              <a:rPr lang="en-US" b="1"/>
              <a:t>planning phase</a:t>
            </a:r>
            <a:r>
              <a:rPr lang="en-US"/>
              <a:t>, where the team gathered requirements, defined the scope, and created initial architecture diagrams to visualize the system. This stage also involved identifying target users, selecting technology stacks, and drafting timelines to ensure clarity of direction. Moving into the </a:t>
            </a:r>
            <a:r>
              <a:rPr lang="en-US" b="1"/>
              <a:t>development phase</a:t>
            </a:r>
            <a:r>
              <a:rPr lang="en-US"/>
              <a:t>, the team focused on coding core features such as login and registration, dynamic quiz question display, scoring logic, and leaderboard integration. A backlog was maintained to prioritize tasks, track progress, and manage bug fixes, ensuring transparency and accountability. The </a:t>
            </a:r>
            <a:r>
              <a:rPr lang="en-US" b="1"/>
              <a:t>testing phase</a:t>
            </a:r>
            <a:r>
              <a:rPr lang="en-US"/>
              <a:t> followed, where unit, integration, and system testing were conducted to validate</a:t>
            </a:r>
            <a:endParaRPr lang="en-IN"/>
          </a:p>
        </p:txBody>
      </p:sp>
    </p:spTree>
    <p:extLst>
      <p:ext uri="{BB962C8B-B14F-4D97-AF65-F5344CB8AC3E}">
        <p14:creationId xmlns:p14="http://schemas.microsoft.com/office/powerpoint/2010/main" val="2898327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E7357-1E56-B9F2-E739-B5BD9B226C69}"/>
              </a:ext>
            </a:extLst>
          </p:cNvPr>
          <p:cNvSpPr>
            <a:spLocks noGrp="1"/>
          </p:cNvSpPr>
          <p:nvPr>
            <p:ph type="title"/>
          </p:nvPr>
        </p:nvSpPr>
        <p:spPr>
          <a:xfrm>
            <a:off x="1484311" y="500743"/>
            <a:ext cx="10018713" cy="881743"/>
          </a:xfrm>
        </p:spPr>
        <p:txBody>
          <a:bodyPr/>
          <a:lstStyle/>
          <a:p>
            <a:r>
              <a:rPr lang="en-US"/>
              <a:t>Final reflection </a:t>
            </a:r>
            <a:endParaRPr lang="en-IN"/>
          </a:p>
        </p:txBody>
      </p:sp>
      <p:sp>
        <p:nvSpPr>
          <p:cNvPr id="3" name="Content Placeholder 2">
            <a:extLst>
              <a:ext uri="{FF2B5EF4-FFF2-40B4-BE49-F238E27FC236}">
                <a16:creationId xmlns:a16="http://schemas.microsoft.com/office/drawing/2014/main" id="{A74D85E8-A19F-243D-AAC8-7218190D151A}"/>
              </a:ext>
            </a:extLst>
          </p:cNvPr>
          <p:cNvSpPr>
            <a:spLocks noGrp="1"/>
          </p:cNvSpPr>
          <p:nvPr>
            <p:ph idx="1"/>
          </p:nvPr>
        </p:nvSpPr>
        <p:spPr>
          <a:xfrm>
            <a:off x="1484310" y="1905001"/>
            <a:ext cx="10018713" cy="4158342"/>
          </a:xfrm>
        </p:spPr>
        <p:txBody>
          <a:bodyPr>
            <a:normAutofit fontScale="92500"/>
          </a:bodyPr>
          <a:lstStyle/>
          <a:p>
            <a:r>
              <a:rPr lang="en-US"/>
              <a:t>The journey of developing and deploying the quiz game has been both challenging and rewarding, offering valuable lessons at every stage. From the initial planning and design to coding, testing, and deployment, the project demonstrated the importance of structured workflows, clear communication, and consistent documentation. Core features such as login, dynamic quiz display, scoring, and leaderboard integration worked well and provided a solid foundation for user engagement. At the same time, the process highlighted areas for improvement, including optimizing performance under heavy loads, refining mobile UI consistency, and expanding offline capabilities. Overall, the project not only delivered a functional and engaging application but also created opportunities for future growth, such as multiplayer modes, reward systems, and enhanced analytics.</a:t>
            </a:r>
            <a:endParaRPr lang="en-IN"/>
          </a:p>
        </p:txBody>
      </p:sp>
    </p:spTree>
    <p:extLst>
      <p:ext uri="{BB962C8B-B14F-4D97-AF65-F5344CB8AC3E}">
        <p14:creationId xmlns:p14="http://schemas.microsoft.com/office/powerpoint/2010/main" val="4157644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DDE1F-CC19-3A7B-5050-8F6505F703B8}"/>
              </a:ext>
            </a:extLst>
          </p:cNvPr>
          <p:cNvSpPr>
            <a:spLocks noGrp="1"/>
          </p:cNvSpPr>
          <p:nvPr>
            <p:ph type="title"/>
          </p:nvPr>
        </p:nvSpPr>
        <p:spPr>
          <a:xfrm>
            <a:off x="1484311" y="206830"/>
            <a:ext cx="10018713" cy="859971"/>
          </a:xfrm>
        </p:spPr>
        <p:txBody>
          <a:bodyPr/>
          <a:lstStyle/>
          <a:p>
            <a:r>
              <a:rPr lang="en-US"/>
              <a:t>Conclusion </a:t>
            </a:r>
            <a:endParaRPr lang="en-IN"/>
          </a:p>
        </p:txBody>
      </p:sp>
      <p:sp>
        <p:nvSpPr>
          <p:cNvPr id="3" name="Content Placeholder 2">
            <a:extLst>
              <a:ext uri="{FF2B5EF4-FFF2-40B4-BE49-F238E27FC236}">
                <a16:creationId xmlns:a16="http://schemas.microsoft.com/office/drawing/2014/main" id="{D9D9D851-B70C-8498-20E8-295DAD5F7442}"/>
              </a:ext>
            </a:extLst>
          </p:cNvPr>
          <p:cNvSpPr>
            <a:spLocks noGrp="1"/>
          </p:cNvSpPr>
          <p:nvPr>
            <p:ph sz="half" idx="1"/>
          </p:nvPr>
        </p:nvSpPr>
        <p:spPr>
          <a:xfrm>
            <a:off x="1273629" y="1219200"/>
            <a:ext cx="7489371" cy="4833257"/>
          </a:xfrm>
        </p:spPr>
        <p:txBody>
          <a:bodyPr/>
          <a:lstStyle/>
          <a:p>
            <a:r>
              <a:rPr lang="en-US"/>
              <a:t>The quiz game project successfully demonstrated the complete lifecycle of software development, from planning and coding to testing and deployment. Each phase contributed to building a functional, engaging, and scalable application that delivers core features such as secure login, dynamic quiz flow, scoring, and leaderboard tracking. While minor issues remain, the project provided valuable insights into performance optimization, UI consistency, and future enhancements like multiplayer modes and reward systems. Overall, the project achieved its objectives, created a strong foundation for continuous improvement, and highlighted the importance of teamwork, structured processes, and user‑focused design in delivering a successful product.</a:t>
            </a:r>
            <a:endParaRPr lang="en-IN"/>
          </a:p>
        </p:txBody>
      </p:sp>
      <p:pic>
        <p:nvPicPr>
          <p:cNvPr id="6" name="Content Placeholder 5">
            <a:extLst>
              <a:ext uri="{FF2B5EF4-FFF2-40B4-BE49-F238E27FC236}">
                <a16:creationId xmlns:a16="http://schemas.microsoft.com/office/drawing/2014/main" id="{F3F0CA00-4075-1012-FE34-0DFF2EC3A413}"/>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8504010" y="2351314"/>
            <a:ext cx="3394075" cy="3394075"/>
          </a:xfrm>
        </p:spPr>
      </p:pic>
    </p:spTree>
    <p:extLst>
      <p:ext uri="{BB962C8B-B14F-4D97-AF65-F5344CB8AC3E}">
        <p14:creationId xmlns:p14="http://schemas.microsoft.com/office/powerpoint/2010/main" val="32377242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0</TotalTime>
  <Words>2036</Words>
  <Application>Microsoft Office PowerPoint</Application>
  <PresentationFormat>Widescreen</PresentationFormat>
  <Paragraphs>120</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Bahnschrift SemiBold</vt:lpstr>
      <vt:lpstr>Corbel</vt:lpstr>
      <vt:lpstr>Parallax</vt:lpstr>
      <vt:lpstr>SDLC ACTIVITY “ QUIZ GAME”</vt:lpstr>
      <vt:lpstr>Introduction </vt:lpstr>
      <vt:lpstr>Problem statement </vt:lpstr>
      <vt:lpstr>Objective </vt:lpstr>
      <vt:lpstr>Activity -1 requirement analysis</vt:lpstr>
      <vt:lpstr>Requirement </vt:lpstr>
      <vt:lpstr>ACTIVITY -2 ( SYSTEM DESIGN)</vt:lpstr>
      <vt:lpstr>System architecture diagram</vt:lpstr>
      <vt:lpstr>Ui wire frames </vt:lpstr>
      <vt:lpstr>Database design </vt:lpstr>
      <vt:lpstr>Activity sheet -3  ( development phase)</vt:lpstr>
      <vt:lpstr>Activity -4(testing phase)</vt:lpstr>
      <vt:lpstr>Activity -5(deployment and release notes)</vt:lpstr>
      <vt:lpstr>Features included</vt:lpstr>
      <vt:lpstr>activity-6 (Maintance &amp; reflection)</vt:lpstr>
      <vt:lpstr>PowerPoint Presentation</vt:lpstr>
      <vt:lpstr>Final reflection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Choudhari Maneesha</dc:creator>
  <cp:lastModifiedBy>Choudhari Maneesha</cp:lastModifiedBy>
  <cp:revision>1</cp:revision>
  <dcterms:created xsi:type="dcterms:W3CDTF">2025-12-30T03:58:36Z</dcterms:created>
  <dcterms:modified xsi:type="dcterms:W3CDTF">2026-01-03T08:15:11Z</dcterms:modified>
</cp:coreProperties>
</file>